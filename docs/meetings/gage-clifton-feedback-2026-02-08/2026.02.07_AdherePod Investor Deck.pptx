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7B467-1F1E-77B0-C857-F83D3558A8B8}" v="1" dt="2026-02-08T04:57:34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ge Clifton (US)" userId="S::gage.clifton@pwc.com::5121f3db-d832-4733-af45-28ddabf14daa" providerId="AD" clId="Web-{7647B467-1F1E-77B0-C857-F83D3558A8B8}"/>
    <pc:docChg chg="modSld">
      <pc:chgData name="Gage Clifton (US)" userId="S::gage.clifton@pwc.com::5121f3db-d832-4733-af45-28ddabf14daa" providerId="AD" clId="Web-{7647B467-1F1E-77B0-C857-F83D3558A8B8}" dt="2026-02-08T04:57:34.355" v="0"/>
      <pc:docMkLst>
        <pc:docMk/>
      </pc:docMkLst>
      <pc:sldChg chg="modSp">
        <pc:chgData name="Gage Clifton (US)" userId="S::gage.clifton@pwc.com::5121f3db-d832-4733-af45-28ddabf14daa" providerId="AD" clId="Web-{7647B467-1F1E-77B0-C857-F83D3558A8B8}" dt="2026-02-08T04:57:34.355" v="0"/>
        <pc:sldMkLst>
          <pc:docMk/>
          <pc:sldMk cId="0" sldId="256"/>
        </pc:sldMkLst>
        <pc:spChg chg="mod">
          <ac:chgData name="Gage Clifton (US)" userId="S::gage.clifton@pwc.com::5121f3db-d832-4733-af45-28ddabf14daa" providerId="AD" clId="Web-{7647B467-1F1E-77B0-C857-F83D3558A8B8}" dt="2026-02-08T04:57:34.355" v="0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5228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286000"/>
            <a:ext cx="3657600" cy="365760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463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AdherePod</a:t>
            </a:r>
            <a:endParaRPr lang="en-US" sz="4800"/>
          </a:p>
        </p:txBody>
      </p:sp>
      <p:sp>
        <p:nvSpPr>
          <p:cNvPr id="6" name="Text 3"/>
          <p:cNvSpPr/>
          <p:nvPr/>
        </p:nvSpPr>
        <p:spPr>
          <a:xfrm>
            <a:off x="73152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Medication Adherence Platform</a:t>
            </a:r>
            <a:endParaRPr lang="en-US" sz="2200"/>
          </a:p>
        </p:txBody>
      </p:sp>
      <p:sp>
        <p:nvSpPr>
          <p:cNvPr id="7" name="Text 4"/>
          <p:cNvSpPr/>
          <p:nvPr/>
        </p:nvSpPr>
        <p:spPr>
          <a:xfrm>
            <a:off x="73152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adherence. Better outcomes. Lower costs.</a:t>
            </a:r>
            <a:endParaRPr lang="en-US" sz="1600"/>
          </a:p>
        </p:txBody>
      </p:sp>
      <p:sp>
        <p:nvSpPr>
          <p:cNvPr id="8" name="Shape 5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46177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 |  REPLACE ME  | 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Non-Adherence: A $528 Billion Crisis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874520" cy="219456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057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320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chronic disease patients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take meds as prescribed</a:t>
            </a:r>
            <a:endParaRPr lang="en-US" sz="1100"/>
          </a:p>
        </p:txBody>
      </p:sp>
      <p:sp>
        <p:nvSpPr>
          <p:cNvPr id="9" name="Shape 6"/>
          <p:cNvSpPr/>
          <p:nvPr/>
        </p:nvSpPr>
        <p:spPr>
          <a:xfrm>
            <a:off x="2606040" y="1463040"/>
            <a:ext cx="1874520" cy="2194560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6459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97480" y="2057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$528B</a:t>
            </a:r>
            <a:endParaRPr lang="en-US" sz="3200"/>
          </a:p>
        </p:txBody>
      </p:sp>
      <p:sp>
        <p:nvSpPr>
          <p:cNvPr id="12" name="Text 8"/>
          <p:cNvSpPr/>
          <p:nvPr/>
        </p:nvSpPr>
        <p:spPr>
          <a:xfrm>
            <a:off x="2697480" y="2606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non-adherence in the U.S.</a:t>
            </a:r>
            <a:endParaRPr lang="en-US" sz="1100"/>
          </a:p>
        </p:txBody>
      </p:sp>
      <p:sp>
        <p:nvSpPr>
          <p:cNvPr id="13" name="Shape 9"/>
          <p:cNvSpPr/>
          <p:nvPr/>
        </p:nvSpPr>
        <p:spPr>
          <a:xfrm>
            <a:off x="4663440" y="1463040"/>
            <a:ext cx="1874520" cy="219456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6459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54880" y="2057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100K+</a:t>
            </a:r>
            <a:endParaRPr lang="en-US" sz="3200"/>
          </a:p>
        </p:txBody>
      </p:sp>
      <p:sp>
        <p:nvSpPr>
          <p:cNvPr id="16" name="Text 11"/>
          <p:cNvSpPr/>
          <p:nvPr/>
        </p:nvSpPr>
        <p:spPr>
          <a:xfrm>
            <a:off x="4754880" y="2606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deaths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100"/>
          </a:p>
        </p:txBody>
      </p:sp>
      <p:sp>
        <p:nvSpPr>
          <p:cNvPr id="17" name="Shape 12"/>
          <p:cNvSpPr/>
          <p:nvPr/>
        </p:nvSpPr>
        <p:spPr>
          <a:xfrm>
            <a:off x="6720840" y="1463040"/>
            <a:ext cx="1874520" cy="2194560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164592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12280" y="2057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3200"/>
          </a:p>
        </p:txBody>
      </p:sp>
      <p:sp>
        <p:nvSpPr>
          <p:cNvPr id="20" name="Text 14"/>
          <p:cNvSpPr/>
          <p:nvPr/>
        </p:nvSpPr>
        <p:spPr>
          <a:xfrm>
            <a:off x="6812280" y="2606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hospitalizations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non-adherence</a:t>
            </a:r>
            <a:endParaRPr lang="en-US" sz="1100"/>
          </a:p>
        </p:txBody>
      </p:sp>
      <p:sp>
        <p:nvSpPr>
          <p:cNvPr id="21" name="Text 15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Non-adherence is the single largest driver of avoidable healthcare spending — yet most payers lack the tools to address it effectively at scale.</a:t>
            </a:r>
            <a:endParaRPr lang="en-US" sz="1300"/>
          </a:p>
        </p:txBody>
      </p:sp>
      <p:sp>
        <p:nvSpPr>
          <p:cNvPr id="22" name="Text 1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American College of Cardiology, Magellan Health Insights, PQA Alliance</a:t>
            </a:r>
            <a:endParaRPr lang="en-US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PAYER OPPORTUNITY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657600" cy="1828800"/>
          </a:xfrm>
          <a:prstGeom prst="rect">
            <a:avLst/>
          </a:prstGeom>
          <a:solidFill>
            <a:srgbClr val="065A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$100–$300B</a:t>
            </a:r>
            <a:endParaRPr lang="en-US" sz="360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potential annual savings for payers by systematically addressing medication adherence</a:t>
            </a:r>
            <a:endParaRPr lang="en-US" sz="13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972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74920" y="10515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Star Ratings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5074920" y="130759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is a key quality metric — small improvements can be the difference between 3 and 4 stars, unlocking significant bonus payments</a:t>
            </a:r>
            <a:endParaRPr lang="en-US" sz="10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75564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17099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ROI</a:t>
            </a:r>
            <a:endParaRPr lang="en-US" sz="1300"/>
          </a:p>
        </p:txBody>
      </p:sp>
      <p:sp>
        <p:nvSpPr>
          <p:cNvPr id="12" name="Text 8"/>
          <p:cNvSpPr/>
          <p:nvPr/>
        </p:nvSpPr>
        <p:spPr>
          <a:xfrm>
            <a:off x="5074920" y="196596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plans avoided $27–$46.6B in costs (2013–2018) from better adherence in just 3 drug classes</a:t>
            </a:r>
            <a:endParaRPr lang="en-US" sz="100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41401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74920" y="23682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Alignment</a:t>
            </a:r>
            <a:endParaRPr lang="en-US" sz="1300"/>
          </a:p>
        </p:txBody>
      </p:sp>
      <p:sp>
        <p:nvSpPr>
          <p:cNvPr id="15" name="Text 10"/>
          <p:cNvSpPr/>
          <p:nvPr/>
        </p:nvSpPr>
        <p:spPr>
          <a:xfrm>
            <a:off x="5074920" y="262432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adherence = fewer hospitalizations, fewer ER visits, lower total cost of care — a direct win for risk-bearing payers</a:t>
            </a:r>
            <a:endParaRPr lang="en-US" sz="1000"/>
          </a:p>
        </p:txBody>
      </p:sp>
      <p:sp>
        <p:nvSpPr>
          <p:cNvPr id="16" name="Shape 11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548640" y="329184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914400" y="33832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"Even small shifts in adherence can be the difference between 3 and 4 stars... that's a return you don't walk away from."</a:t>
            </a:r>
            <a:endParaRPr lang="en-US" sz="1400"/>
          </a:p>
        </p:txBody>
      </p:sp>
      <p:sp>
        <p:nvSpPr>
          <p:cNvPr id="19" name="Text 14"/>
          <p:cNvSpPr/>
          <p:nvPr/>
        </p:nvSpPr>
        <p:spPr>
          <a:xfrm>
            <a:off x="914400" y="3977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Becker's Payer Issues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in-home pill dispenser with integrated screen, camera, and connectivity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3200400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AdherePod</a:t>
            </a:r>
            <a:endParaRPr lang="en-US" sz="2200"/>
          </a:p>
        </p:txBody>
      </p:sp>
      <p:sp>
        <p:nvSpPr>
          <p:cNvPr id="8" name="Text 5"/>
          <p:cNvSpPr/>
          <p:nvPr/>
        </p:nvSpPr>
        <p:spPr>
          <a:xfrm>
            <a:off x="914400" y="2194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all-in-one medication management assistant that works right out of the box. Designed for seniors and chronically ill patients who may not be tech-savvy — with built-in cellular connectivity, voice commands, and zero-setup onboarding.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adherence rate in pilot studies</a:t>
            </a:r>
            <a:r>
              <a:rPr lang="en-US" sz="1300" b="1" baseline="300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baseline="300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721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 enroll prescriptions via camera</a:t>
            </a:r>
            <a:endParaRPr lang="en-US" sz="12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91109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7800" y="18562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dispensing &amp; smart reminders</a:t>
            </a:r>
            <a:endParaRPr lang="en-US" sz="120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350008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57800" y="22951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guidance and medication coaching</a:t>
            </a:r>
            <a:endParaRPr lang="en-US" sz="120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788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57800" y="27340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pharmacy refill coordination</a:t>
            </a:r>
            <a:endParaRPr lang="en-US" sz="120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227832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57800" y="3172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price comparison &amp; cost savings</a:t>
            </a:r>
            <a:endParaRPr lang="en-US" sz="120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666744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5780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integration &amp; prior auth support</a:t>
            </a:r>
            <a:endParaRPr lang="en-US" sz="120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4105656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57800" y="40507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adherence analytics &amp; reporting</a:t>
            </a:r>
            <a:endParaRPr lang="en-US" sz="120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B89E25A6-F022-3711-1772-3B6F9DEAE280}"/>
              </a:ext>
            </a:extLst>
          </p:cNvPr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(1) JMIR Formative Research — In-Home Medication Dispensing System Pilot Study (2022)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patient experience from unboxing to daily use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874520" cy="274320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&amp;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cellular or auto Wi-Fi setup. No manual config needed.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2606040" y="1417320"/>
            <a:ext cx="1874520" cy="274320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2743200" y="20574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2743200" y="27889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prescription bottles to the camera. AI reads labels automatically.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1874520" cy="274320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4800600" y="20574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Dispensing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800600" y="27889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Pills dispensed on schedule with voice prompts and screen alerts.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6720840" y="1417320"/>
            <a:ext cx="1874520" cy="274320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6858000" y="20574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6858000" y="27889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Refills, reminders, price shopping, and provider coordination — all handled.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237744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443484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649224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CAPABILITIES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874520" cy="1417320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069848"/>
            <a:ext cx="365760" cy="36576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1155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150876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Rx Enrollment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658368" y="178308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scans bottle labels to auto-enroll medications — no manual data entry</a:t>
            </a:r>
            <a:endParaRPr lang="en-US" sz="950"/>
          </a:p>
        </p:txBody>
      </p:sp>
      <p:sp>
        <p:nvSpPr>
          <p:cNvPr id="9" name="Shape 6"/>
          <p:cNvSpPr/>
          <p:nvPr/>
        </p:nvSpPr>
        <p:spPr>
          <a:xfrm>
            <a:off x="2606040" y="960120"/>
            <a:ext cx="1874520" cy="1417320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15768" y="1069848"/>
            <a:ext cx="365760" cy="36576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111556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15768" y="150876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Dispensing</a:t>
            </a:r>
            <a:endParaRPr lang="en-US" sz="1100"/>
          </a:p>
        </p:txBody>
      </p:sp>
      <p:sp>
        <p:nvSpPr>
          <p:cNvPr id="13" name="Text 9"/>
          <p:cNvSpPr/>
          <p:nvPr/>
        </p:nvSpPr>
        <p:spPr>
          <a:xfrm>
            <a:off x="2715768" y="178308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pill storage &amp; automated dispensing at scheduled times with alerts</a:t>
            </a:r>
            <a:endParaRPr lang="en-US" sz="950"/>
          </a:p>
        </p:txBody>
      </p:sp>
      <p:sp>
        <p:nvSpPr>
          <p:cNvPr id="14" name="Shape 10"/>
          <p:cNvSpPr/>
          <p:nvPr/>
        </p:nvSpPr>
        <p:spPr>
          <a:xfrm>
            <a:off x="4663440" y="960120"/>
            <a:ext cx="1874520" cy="1417320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773168" y="1069848"/>
            <a:ext cx="365760" cy="36576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1155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73168" y="150876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Reminders</a:t>
            </a:r>
            <a:endParaRPr lang="en-US" sz="1100"/>
          </a:p>
        </p:txBody>
      </p:sp>
      <p:sp>
        <p:nvSpPr>
          <p:cNvPr id="18" name="Text 13"/>
          <p:cNvSpPr/>
          <p:nvPr/>
        </p:nvSpPr>
        <p:spPr>
          <a:xfrm>
            <a:off x="4773168" y="178308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alerts, voice prompts, text messages, and automated phone calls</a:t>
            </a:r>
            <a:endParaRPr lang="en-US" sz="950"/>
          </a:p>
        </p:txBody>
      </p:sp>
      <p:sp>
        <p:nvSpPr>
          <p:cNvPr id="19" name="Shape 14"/>
          <p:cNvSpPr/>
          <p:nvPr/>
        </p:nvSpPr>
        <p:spPr>
          <a:xfrm>
            <a:off x="6720840" y="960120"/>
            <a:ext cx="1874520" cy="1417320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830568" y="1069848"/>
            <a:ext cx="365760" cy="36576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288" y="111556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30568" y="150876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Coaching</a:t>
            </a:r>
            <a:endParaRPr lang="en-US" sz="1100"/>
          </a:p>
        </p:txBody>
      </p:sp>
      <p:sp>
        <p:nvSpPr>
          <p:cNvPr id="23" name="Text 17"/>
          <p:cNvSpPr/>
          <p:nvPr/>
        </p:nvSpPr>
        <p:spPr>
          <a:xfrm>
            <a:off x="6830568" y="178308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guidance — food interactions, timing, side effects, contraindications</a:t>
            </a:r>
            <a:endParaRPr lang="en-US" sz="950"/>
          </a:p>
        </p:txBody>
      </p:sp>
      <p:sp>
        <p:nvSpPr>
          <p:cNvPr id="24" name="Shape 18"/>
          <p:cNvSpPr/>
          <p:nvPr/>
        </p:nvSpPr>
        <p:spPr>
          <a:xfrm>
            <a:off x="548640" y="2560320"/>
            <a:ext cx="1874520" cy="1417320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58368" y="2670048"/>
            <a:ext cx="365760" cy="36576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271576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8368" y="310896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Refill Automation</a:t>
            </a:r>
            <a:endParaRPr lang="en-US" sz="1100"/>
          </a:p>
        </p:txBody>
      </p:sp>
      <p:sp>
        <p:nvSpPr>
          <p:cNvPr id="28" name="Text 21"/>
          <p:cNvSpPr/>
          <p:nvPr/>
        </p:nvSpPr>
        <p:spPr>
          <a:xfrm>
            <a:off x="658368" y="338328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remaining doses, contacts pharmacy for refills, alerts on Rx renewals</a:t>
            </a:r>
            <a:endParaRPr lang="en-US" sz="950"/>
          </a:p>
        </p:txBody>
      </p:sp>
      <p:sp>
        <p:nvSpPr>
          <p:cNvPr id="29" name="Shape 22"/>
          <p:cNvSpPr/>
          <p:nvPr/>
        </p:nvSpPr>
        <p:spPr>
          <a:xfrm>
            <a:off x="2606040" y="2560320"/>
            <a:ext cx="1874520" cy="1417320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2715768" y="2670048"/>
            <a:ext cx="365760" cy="36576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1488" y="271576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715768" y="310896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Optimization</a:t>
            </a:r>
            <a:endParaRPr lang="en-US" sz="1100"/>
          </a:p>
        </p:txBody>
      </p:sp>
      <p:sp>
        <p:nvSpPr>
          <p:cNvPr id="33" name="Text 25"/>
          <p:cNvSpPr/>
          <p:nvPr/>
        </p:nvSpPr>
        <p:spPr>
          <a:xfrm>
            <a:off x="2715768" y="338328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pharmacy prices, suggests generics, and applies discount programs</a:t>
            </a:r>
            <a:endParaRPr lang="en-US" sz="950"/>
          </a:p>
        </p:txBody>
      </p:sp>
      <p:sp>
        <p:nvSpPr>
          <p:cNvPr id="34" name="Shape 26"/>
          <p:cNvSpPr/>
          <p:nvPr/>
        </p:nvSpPr>
        <p:spPr>
          <a:xfrm>
            <a:off x="4663440" y="2560320"/>
            <a:ext cx="1874520" cy="1417320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4773168" y="2670048"/>
            <a:ext cx="365760" cy="36576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8888" y="2715768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773168" y="310896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Integration</a:t>
            </a:r>
            <a:endParaRPr lang="en-US" sz="1100"/>
          </a:p>
        </p:txBody>
      </p:sp>
      <p:sp>
        <p:nvSpPr>
          <p:cNvPr id="38" name="Text 29"/>
          <p:cNvSpPr/>
          <p:nvPr/>
        </p:nvSpPr>
        <p:spPr>
          <a:xfrm>
            <a:off x="4773168" y="338328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prior auth requests, notifies doctors of lapses, facilitates calls</a:t>
            </a:r>
            <a:endParaRPr lang="en-US" sz="950"/>
          </a:p>
        </p:txBody>
      </p:sp>
      <p:sp>
        <p:nvSpPr>
          <p:cNvPr id="39" name="Shape 30"/>
          <p:cNvSpPr/>
          <p:nvPr/>
        </p:nvSpPr>
        <p:spPr>
          <a:xfrm>
            <a:off x="6720840" y="2560320"/>
            <a:ext cx="1874520" cy="1417320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6830568" y="2670048"/>
            <a:ext cx="365760" cy="36576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76288" y="2715768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830568" y="310896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Analytics</a:t>
            </a:r>
            <a:endParaRPr lang="en-US" sz="1100"/>
          </a:p>
        </p:txBody>
      </p:sp>
      <p:sp>
        <p:nvSpPr>
          <p:cNvPr id="43" name="Text 33"/>
          <p:cNvSpPr/>
          <p:nvPr/>
        </p:nvSpPr>
        <p:spPr>
          <a:xfrm>
            <a:off x="6830568" y="338328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for care managers, trend reports for providers and payers</a:t>
            </a:r>
            <a:endParaRPr lang="en-US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ANALYTICS PLATFORM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dose tracked. Every insight actionable.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3108960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Payers &amp; Providers</a:t>
            </a:r>
            <a:endParaRPr lang="en-US" sz="15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38528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when patients miss doses — enabling proactive care management</a:t>
            </a:r>
            <a:endParaRPr lang="en-US" sz="10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4144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non-adherent members for targeted intervention programs</a:t>
            </a:r>
            <a:endParaRPr lang="en-US" sz="10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4436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for physicians showing adherence trends at point of care</a:t>
            </a:r>
            <a:endParaRPr lang="en-US" sz="10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4728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DTC medications (e.g., GLP-1s) not captured in claims data</a:t>
            </a:r>
            <a:endParaRPr lang="en-US" sz="100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50208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7280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22% of members have insurance coverage for GLP-1 weight-loss drugs — AdherePod captures the other 78%</a:t>
            </a:r>
            <a:endParaRPr lang="en-US" sz="1000"/>
          </a:p>
        </p:txBody>
      </p:sp>
      <p:sp>
        <p:nvSpPr>
          <p:cNvPr id="17" name="Shape 10"/>
          <p:cNvSpPr/>
          <p:nvPr/>
        </p:nvSpPr>
        <p:spPr>
          <a:xfrm>
            <a:off x="4754880" y="1371600"/>
            <a:ext cx="3840480" cy="3108960"/>
          </a:xfrm>
          <a:prstGeom prst="rect">
            <a:avLst/>
          </a:prstGeom>
          <a:solidFill>
            <a:srgbClr val="065A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502920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Opportunities</a:t>
            </a:r>
            <a:endParaRPr lang="en-US" sz="150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984248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49240" y="196596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Analytics</a:t>
            </a:r>
            <a:endParaRPr lang="en-US" sz="1100"/>
          </a:p>
        </p:txBody>
      </p:sp>
      <p:sp>
        <p:nvSpPr>
          <p:cNvPr id="21" name="Text 13"/>
          <p:cNvSpPr/>
          <p:nvPr/>
        </p:nvSpPr>
        <p:spPr>
          <a:xfrm>
            <a:off x="5349240" y="2194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dashboards for payer care management teams</a:t>
            </a:r>
            <a:endParaRPr lang="en-US" sz="100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578608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49240" y="25603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Insights</a:t>
            </a:r>
            <a:endParaRPr lang="en-US" sz="1100"/>
          </a:p>
        </p:txBody>
      </p:sp>
      <p:sp>
        <p:nvSpPr>
          <p:cNvPr id="24" name="Text 15"/>
          <p:cNvSpPr/>
          <p:nvPr/>
        </p:nvSpPr>
        <p:spPr>
          <a:xfrm>
            <a:off x="5349240" y="27889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Anonymized, aggregated adherence data for drug manufacturers</a:t>
            </a:r>
            <a:endParaRPr lang="en-US" sz="100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172968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49240" y="31546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Data</a:t>
            </a:r>
            <a:endParaRPr lang="en-US" sz="1100"/>
          </a:p>
        </p:txBody>
      </p:sp>
      <p:sp>
        <p:nvSpPr>
          <p:cNvPr id="27" name="Text 17"/>
          <p:cNvSpPr/>
          <p:nvPr/>
        </p:nvSpPr>
        <p:spPr>
          <a:xfrm>
            <a:off x="5349240" y="3383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evidence packages for health economics studies</a:t>
            </a:r>
            <a:endParaRPr lang="en-US" sz="100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767328"/>
            <a:ext cx="182880" cy="18288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349240" y="37490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Fees</a:t>
            </a:r>
            <a:endParaRPr lang="en-US" sz="1100"/>
          </a:p>
        </p:txBody>
      </p:sp>
      <p:sp>
        <p:nvSpPr>
          <p:cNvPr id="30" name="Text 19"/>
          <p:cNvSpPr/>
          <p:nvPr/>
        </p:nvSpPr>
        <p:spPr>
          <a:xfrm>
            <a:off x="5349240" y="3977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connections to EHRs, pharmacy systems, and HIEs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[PLACEHOLDER — TAM / SAM / SOM ANALYSIS]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content for this slide: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TAM: Total addressable market — U.S. medication adherence market ($XX B), smart dispenser/connected health device market size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SAM: Serviceable addressable market — Medicare Advantage + Medicaid managed care + commercial payer segments targetable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SOM: Share of market — realistic penetration in first 3–5 years with initial payer partnerships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Growth drivers: aging population, shift to value-based care, CMS quality incentives, rising chronic disease prevalence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Include concentric circle or funnel visual showing TAM → SAM → SOM with dollar figures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$50B FEDERAL FUNDING TAILWIND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Rural Health Transformation Program (2026–2030)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1645920"/>
          </a:xfrm>
          <a:prstGeom prst="rect">
            <a:avLst/>
          </a:prstGeom>
          <a:solidFill>
            <a:srgbClr val="065A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$50B</a:t>
            </a:r>
            <a:endParaRPr lang="en-US" sz="440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 years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~$10B/year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 states</a:t>
            </a:r>
            <a:endParaRPr lang="en-US" sz="12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22529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749040" y="11887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CMS Mandate</a:t>
            </a:r>
            <a:endParaRPr lang="en-US" sz="1150"/>
          </a:p>
        </p:txBody>
      </p:sp>
      <p:sp>
        <p:nvSpPr>
          <p:cNvPr id="10" name="Text 7"/>
          <p:cNvSpPr/>
          <p:nvPr/>
        </p:nvSpPr>
        <p:spPr>
          <a:xfrm>
            <a:off x="3749040" y="138988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earmarked for "remote patient monitoring, digital tools, and telehealth" — AdherePod is a direct fit</a:t>
            </a:r>
            <a:endParaRPr lang="en-US" sz="95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66420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16276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for Rural Patients</a:t>
            </a:r>
            <a:endParaRPr lang="en-US" sz="1150"/>
          </a:p>
        </p:txBody>
      </p:sp>
      <p:sp>
        <p:nvSpPr>
          <p:cNvPr id="13" name="Text 9"/>
          <p:cNvSpPr/>
          <p:nvPr/>
        </p:nvSpPr>
        <p:spPr>
          <a:xfrm>
            <a:off x="3749040" y="182880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pharmacy-level medication management into remote homes, reducing travel burden</a:t>
            </a:r>
            <a:endParaRPr lang="en-US" sz="95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10312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49040" y="206654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</a:t>
            </a:r>
            <a:endParaRPr lang="en-US" sz="1150"/>
          </a:p>
        </p:txBody>
      </p:sp>
      <p:sp>
        <p:nvSpPr>
          <p:cNvPr id="16" name="Text 11"/>
          <p:cNvSpPr/>
          <p:nvPr/>
        </p:nvSpPr>
        <p:spPr>
          <a:xfrm>
            <a:off x="3749040" y="226771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adherence monitoring enables rural clinics to prevent ER visits and hospitalizations</a:t>
            </a:r>
            <a:endParaRPr lang="en-US" sz="95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542032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49040" y="250545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Augmentation</a:t>
            </a:r>
            <a:endParaRPr lang="en-US" sz="1150"/>
          </a:p>
        </p:txBody>
      </p:sp>
      <p:sp>
        <p:nvSpPr>
          <p:cNvPr id="19" name="Text 13"/>
          <p:cNvSpPr/>
          <p:nvPr/>
        </p:nvSpPr>
        <p:spPr>
          <a:xfrm>
            <a:off x="3749040" y="270662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routine tasks for stretched rural providers — reducing clinician burden per CMS priorities</a:t>
            </a:r>
            <a:endParaRPr lang="en-US" sz="950"/>
          </a:p>
        </p:txBody>
      </p:sp>
      <p:sp>
        <p:nvSpPr>
          <p:cNvPr id="20" name="Shape 14"/>
          <p:cNvSpPr/>
          <p:nvPr/>
        </p:nvSpPr>
        <p:spPr>
          <a:xfrm>
            <a:off x="548640" y="3108960"/>
            <a:ext cx="8046720" cy="1463040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82296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Capture Strategy</a:t>
            </a:r>
            <a:endParaRPr lang="en-US" sz="1300"/>
          </a:p>
        </p:txBody>
      </p:sp>
      <p:sp>
        <p:nvSpPr>
          <p:cNvPr id="22" name="Text 16"/>
          <p:cNvSpPr/>
          <p:nvPr/>
        </p:nvSpPr>
        <p:spPr>
          <a:xfrm>
            <a:off x="82296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state health departments and rural consortia to deploy AdherePod as a covered innovation. Target states emphasizing digital health in their Rural Transformation plans. A single state allocation (~$200M/yr) could fund 5,000+ units for high-burden rural seniors. Successful pilots create pathways to insurance reimbursement as a covered benefit.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[PLACEHOLDER — BUSINESS MODEL &amp; REVENUE STREAMS]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content for this slide: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Hardware sales model — device pricing, margin, who pays (payer vs. patient vs. grant-funded)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SaaS subscription — per-member-per-month (PMPM) analytics platform fee to payers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Pharmacy/manufacturer revenue share — referral fees for refill routing, price optimization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licensing — anonymized adherence data products for pharma R&amp;D and real-world evidence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Unit economics — CAC, LTV, gross margin per device, break-even timeline</a:t>
            </a:r>
            <a:endParaRPr lang="en-US" sz="1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[PLACEHOLDER — COMPETITIVE ANALYSIS]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content for this slide: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2x2 matrix: Feature richness (Y-axis) vs. Ease of use (X-axis) — position AdherePod in upper-right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Key competitors: Hero Health, MedMinder, Philips Medido, PillPack (Amazon), simple pill organizers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AdherePod differentiation: camera-based enrollment, integrated price shopping, provider coordination, full data analytics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Comparison table showing feature gaps of competitors (no camera scan, no cost optimization, no prior auth support, etc.)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Moats: proprietary OCR/AI for Rx labels, payer integration partnerships, real-world adherence dataset</a:t>
            </a:r>
            <a:endParaRPr lang="en-US" sz="10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 STRATEGY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606040" cy="356616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&amp; Prove</a:t>
            </a:r>
            <a:endParaRPr lang="en-US" sz="170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10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57400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011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2–3 Medicare Advantage plans for pilot deployments</a:t>
            </a:r>
            <a:endParaRPr lang="en-US" sz="10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06040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560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CMS Rural Health funding for initial rural rollouts</a:t>
            </a:r>
            <a:endParaRPr lang="en-US" sz="10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54680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3108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high-burden chronic disease populations (diabetes, CHF, hypertension)</a:t>
            </a:r>
            <a:endParaRPr lang="en-US" sz="10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03320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3657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clinical evidence and ROI data</a:t>
            </a:r>
            <a:endParaRPr lang="en-US" sz="1000"/>
          </a:p>
        </p:txBody>
      </p:sp>
      <p:sp>
        <p:nvSpPr>
          <p:cNvPr id="15" name="Shape 9"/>
          <p:cNvSpPr/>
          <p:nvPr/>
        </p:nvSpPr>
        <p:spPr>
          <a:xfrm>
            <a:off x="3383280" y="1051560"/>
            <a:ext cx="2606040" cy="356616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3520440" y="1143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/>
          </a:p>
        </p:txBody>
      </p:sp>
      <p:sp>
        <p:nvSpPr>
          <p:cNvPr id="17" name="Text 11"/>
          <p:cNvSpPr/>
          <p:nvPr/>
        </p:nvSpPr>
        <p:spPr>
          <a:xfrm>
            <a:off x="352044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Expand</a:t>
            </a:r>
            <a:endParaRPr lang="en-US" sz="1700"/>
          </a:p>
        </p:txBody>
      </p:sp>
      <p:sp>
        <p:nvSpPr>
          <p:cNvPr id="18" name="Text 12"/>
          <p:cNvSpPr/>
          <p:nvPr/>
        </p:nvSpPr>
        <p:spPr>
          <a:xfrm>
            <a:off x="3520440" y="1691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2027–2028</a:t>
            </a:r>
            <a:endParaRPr lang="en-US" sz="100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057400"/>
            <a:ext cx="164592" cy="1645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749040" y="2011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10+ payer partnerships nationally</a:t>
            </a:r>
            <a:endParaRPr lang="en-US" sz="100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606040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749040" y="2560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SaaS analytics platform for care management teams</a:t>
            </a:r>
            <a:endParaRPr lang="en-US" sz="100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154680"/>
            <a:ext cx="164592" cy="16459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749040" y="3108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Medicaid managed care and commercial payer channels</a:t>
            </a:r>
            <a:endParaRPr lang="en-US" sz="100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703320"/>
            <a:ext cx="164592" cy="16459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749040" y="3657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pharmacy network integrations</a:t>
            </a:r>
            <a:endParaRPr lang="en-US" sz="1000"/>
          </a:p>
        </p:txBody>
      </p:sp>
      <p:sp>
        <p:nvSpPr>
          <p:cNvPr id="27" name="Shape 17"/>
          <p:cNvSpPr/>
          <p:nvPr/>
        </p:nvSpPr>
        <p:spPr>
          <a:xfrm>
            <a:off x="6217920" y="1051560"/>
            <a:ext cx="2606040" cy="356616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8"/>
          <p:cNvSpPr/>
          <p:nvPr/>
        </p:nvSpPr>
        <p:spPr>
          <a:xfrm>
            <a:off x="6355080" y="1143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/>
          </a:p>
        </p:txBody>
      </p:sp>
      <p:sp>
        <p:nvSpPr>
          <p:cNvPr id="29" name="Text 19"/>
          <p:cNvSpPr/>
          <p:nvPr/>
        </p:nvSpPr>
        <p:spPr>
          <a:xfrm>
            <a:off x="635508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&amp; Data</a:t>
            </a:r>
            <a:endParaRPr lang="en-US" sz="1700"/>
          </a:p>
        </p:txBody>
      </p:sp>
      <p:sp>
        <p:nvSpPr>
          <p:cNvPr id="30" name="Text 20"/>
          <p:cNvSpPr/>
          <p:nvPr/>
        </p:nvSpPr>
        <p:spPr>
          <a:xfrm>
            <a:off x="6355080" y="1691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2028–2030</a:t>
            </a:r>
            <a:endParaRPr lang="en-US" sz="100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057400"/>
            <a:ext cx="164592" cy="16459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583680" y="2011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100K+ devices deployed</a:t>
            </a:r>
            <a:endParaRPr lang="en-US" sz="100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606040"/>
            <a:ext cx="164592" cy="16459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583680" y="2560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pharma data insights business line</a:t>
            </a:r>
            <a:endParaRPr lang="en-US" sz="100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154680"/>
            <a:ext cx="164592" cy="164592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583680" y="3108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 (UK, EU single-payer markets)</a:t>
            </a:r>
            <a:endParaRPr lang="en-US" sz="100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703320"/>
            <a:ext cx="164592" cy="164592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6583680" y="3657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FDA clearance for clinical-grade monitoring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&amp; VALIDATION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[PLACEHOLDER — TRACTION &amp; KEY MILESTONES]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content for this slide: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Pilot results: # of devices deployed, adherence rate achieved (reference: 98% in similar pilot studies), patient satisfaction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Letters of intent or partnership agreements with payers, health systems, or rural health organizations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Key milestones completed: prototype, beta, regulatory clearances, IP filings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Pipeline: payer conversations in progress, state RFP submissions for Rural Health funds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Advisory board members or strategic partners (clinicians, payer executives, pharmacy chains)</a:t>
            </a:r>
            <a:endParaRPr lang="en-US" sz="1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PROJECTIONS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[PLACEHOLDER — 5-YEAR FINANCIAL MODEL]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content for this slide: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Revenue projections: Year 1–5 by revenue stream (hardware, SaaS, data, pharmacy fees)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Key assumptions: devices deployed per year, PMPM pricing, payer contract values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Gross margin trajectory as manufacturing scales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Path to profitability and EBITDA breakeven timeline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Chart: stacked bar or line chart showing revenue growth with breakeven point highlighted</a:t>
            </a:r>
            <a:endParaRPr lang="en-US" sz="10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[PLACEHOLDER — FOUNDING TEAM &amp; ADVISORS]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content for this slide: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Founder/CEO — headshot, name, background (healthcare, payer, or hardware experience)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CTO — technical leadership, hardware/IoT/AI background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Chief Medical Officer — clinical credibility, pharmacy or geriatric medicine experience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VP of Partnerships — payer relationships, health system sales background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Key advisors: payer executives, pharmacy chain leaders, rural health policy experts</a:t>
            </a:r>
            <a:endParaRPr lang="en-US" sz="1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47472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[PLACEHOLDER]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$XX M</a:t>
            </a:r>
            <a:endParaRPr lang="en-US" sz="480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[X] Raise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$XX M pre-money valuation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457200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5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08760"/>
            <a:ext cx="164592" cy="164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46320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 — Manufacturing scale-up &amp; hardware R&amp;D</a:t>
            </a:r>
            <a:endParaRPr lang="en-US" sz="120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92808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1847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 — Software platform development &amp; AI/ML</a:t>
            </a:r>
            <a:endParaRPr lang="en-US" sz="120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76856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22311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 — Payer sales team &amp; go-to-market</a:t>
            </a:r>
            <a:endParaRPr lang="en-US" sz="120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660904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46320" y="26151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 — Clinical pilots &amp; regulatory</a:t>
            </a:r>
            <a:endParaRPr lang="en-US" sz="120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44952"/>
            <a:ext cx="164592" cy="1645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46320" y="2999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 — Operations &amp; working capital</a:t>
            </a:r>
            <a:endParaRPr lang="en-US" sz="1200"/>
          </a:p>
        </p:txBody>
      </p:sp>
      <p:sp>
        <p:nvSpPr>
          <p:cNvPr id="19" name="Shape 12"/>
          <p:cNvSpPr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822960" y="3291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Milestones With This Raise</a:t>
            </a:r>
            <a:endParaRPr lang="en-US" sz="1300"/>
          </a:p>
        </p:txBody>
      </p:sp>
      <p:sp>
        <p:nvSpPr>
          <p:cNvPr id="21" name="Text 14"/>
          <p:cNvSpPr/>
          <p:nvPr/>
        </p:nvSpPr>
        <p:spPr>
          <a:xfrm>
            <a:off x="822960" y="36118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X,000 units across X payer pilots  •  Achieve X% adherence rate  •  Generate $X M ARR  •  Secure X state Rural Health funding partnerships  •  Build clinical evidence for reimbursement case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&amp; INTELLECTUAL PROPERTY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[PLACEHOLDER — REGULATORY STRATEGY &amp; IP]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content for this slide: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FDA classification strategy — Class I exempt device vs. 510(k) pathway; current status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HIPAA compliance architecture — data encryption, BAA framework, PHI handling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Patent portfolio — filed/pending patents on OCR enrollment, smart dispensing, adherence AI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State pharmacy board considerations — automated dispensing regulations by state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 privacy framework — consent model for analytics, de-identification for pharma data products</a:t>
            </a:r>
            <a:endParaRPr lang="en-US" sz="10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5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AdherePod</a:t>
            </a:r>
            <a:endParaRPr lang="en-US" sz="4000"/>
          </a:p>
        </p:txBody>
      </p:sp>
      <p:sp>
        <p:nvSpPr>
          <p:cNvPr id="6" name="Text 3"/>
          <p:cNvSpPr/>
          <p:nvPr/>
        </p:nvSpPr>
        <p:spPr>
          <a:xfrm>
            <a:off x="73152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intersection of a pressing healthcare need,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addressable market, and supportive tailwinds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both industry and government.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73152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$528B</a:t>
            </a:r>
            <a:endParaRPr lang="en-US" sz="3200"/>
          </a:p>
        </p:txBody>
      </p:sp>
      <p:sp>
        <p:nvSpPr>
          <p:cNvPr id="8" name="Text 5"/>
          <p:cNvSpPr/>
          <p:nvPr/>
        </p:nvSpPr>
        <p:spPr>
          <a:xfrm>
            <a:off x="73152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non-adherence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347472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$50B</a:t>
            </a:r>
            <a:endParaRPr lang="en-US" sz="3200"/>
          </a:p>
        </p:txBody>
      </p:sp>
      <p:sp>
        <p:nvSpPr>
          <p:cNvPr id="10" name="Text 7"/>
          <p:cNvSpPr/>
          <p:nvPr/>
        </p:nvSpPr>
        <p:spPr>
          <a:xfrm>
            <a:off x="347472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new federal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health funding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621792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3200"/>
          </a:p>
        </p:txBody>
      </p:sp>
      <p:sp>
        <p:nvSpPr>
          <p:cNvPr id="12" name="Text 9"/>
          <p:cNvSpPr/>
          <p:nvPr/>
        </p:nvSpPr>
        <p:spPr>
          <a:xfrm>
            <a:off x="621792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rate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pilot studies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31520" y="46177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[Contact Name]  |  [email]  |  [phone]  |  adherepod.com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65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KEY SOURCES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American College of Cardiology — Texting programs improve medication adherence in chronic disease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Magellan Health Insights — Prescription Predicament: Impact of Rising Drug Costs on Adherence (2024)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PQA Alliance — Medication Adherence Measures Help Medicare Avoid Up to $46.6B in Costs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Becker's Payer Issues — Why Smart Plans Double Down on Medication Strategy for Star Ratings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PAN Foundation — Medication Non-Adherence: A Common and Costly Problem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BCBS Kansas — Can Employers and Payers Afford to Cover GLP-1 Drugs?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JMIR Formative Research — In-Home Medication Dispensing System Pilot Study (2022)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CMS — $50 Billion Rural Health Transformation Program Announcement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Tradeoffs — Breaking Down Trump's $50 Billion Rural Health Fund (2026)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19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AdherePod Investor Pitch Deck</dc:title>
  <dc:subject>PptxGenJS Presentation</dc:subject>
  <dc:creator>AdherePod</dc:creator>
  <cp:revision>1</cp:revision>
  <dcterms:created xsi:type="dcterms:W3CDTF">2026-02-08T04:17:46Z</dcterms:created>
  <dcterms:modified xsi:type="dcterms:W3CDTF">2026-02-08T04:57:50Z</dcterms:modified>
</cp:coreProperties>
</file>